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17450" cy="5143500"/>
          </a:xfrm>
          <a:prstGeom prst="rect">
            <a:avLst/>
          </a:prstGeom>
          <a:solidFill>
            <a:srgbClr val="FF57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52351" y="762000"/>
            <a:ext cx="77078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 SOFTWARE PROJECT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52351" y="1098500"/>
            <a:ext cx="7707883" cy="1340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spcAft>
                <a:spcPts val="1500"/>
              </a:spcAft>
              <a:buNone/>
            </a:pPr>
            <a:r>
              <a:rPr lang="en-US" sz="48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GYM MANAGEMENT
</a:t>
            </a:r>
            <a:pPr algn="l" indent="0" marL="0">
              <a:lnSpc>
                <a:spcPts val="5280"/>
              </a:lnSpc>
              <a:spcAft>
                <a:spcPts val="1500"/>
              </a:spcAft>
              <a:buNone/>
            </a:pPr>
            <a:r>
              <a:rPr lang="en-US" sz="4800" dirty="0">
                <a:solidFill>
                  <a:srgbClr val="FF572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SYSTEM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52351" y="2629942"/>
            <a:ext cx="770788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4000"/>
              </a:spcAft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Platform for Modern Fitness Operations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2351" y="3757761"/>
            <a:ext cx="7556748" cy="0"/>
          </a:xfrm>
          <a:prstGeom prst="line">
            <a:avLst/>
          </a:prstGeom>
          <a:noFill/>
          <a:ln w="9525">
            <a:solidFill>
              <a:srgbClr val="2E30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2351" y="4016425"/>
            <a:ext cx="2047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52351" y="4210050"/>
            <a:ext cx="20478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Express + Postgres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67993" y="4016425"/>
            <a:ext cx="17074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HOST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67993" y="4210050"/>
            <a:ext cx="17074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(SSL Pooler)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49962" y="4016425"/>
            <a:ext cx="2032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49962" y="4210050"/>
            <a:ext cx="20329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3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OVERVIEW &amp; TARGET USERS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7950" y="901601"/>
            <a:ext cx="8128099" cy="38100"/>
          </a:xfrm>
          <a:prstGeom prst="roundRect">
            <a:avLst>
              <a:gd name="adj" fmla="val 50000"/>
            </a:avLst>
          </a:prstGeom>
          <a:solidFill>
            <a:srgbClr val="FF57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193602"/>
            <a:ext cx="3174950" cy="3441948"/>
          </a:xfrm>
          <a:prstGeom prst="rect">
            <a:avLst/>
          </a:prstGeom>
          <a:solidFill>
            <a:srgbClr val="1E20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1193602"/>
            <a:ext cx="0" cy="3441948"/>
          </a:xfrm>
          <a:prstGeom prst="line">
            <a:avLst/>
          </a:prstGeom>
          <a:noFill/>
          <a:ln w="47625">
            <a:solidFill>
              <a:srgbClr val="FF5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6075" y="1894136"/>
            <a:ext cx="280125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572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PROJECT MISSION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6075" y="2243286"/>
            <a:ext cx="2801252" cy="67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Gym Management System (ITSS-Gym-Manager) is designed to unify gym operations into a single cohesive platform.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6075" y="3040856"/>
            <a:ext cx="2801252" cy="894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optimizing facility utilization, equipment health, and scheduling, the system improves overall efficiency and enhances user experiences across four core roles.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6802" y="1193602"/>
            <a:ext cx="2273350" cy="1644700"/>
          </a:xfrm>
          <a:prstGeom prst="roundRect">
            <a:avLst>
              <a:gd name="adj" fmla="val 4633"/>
            </a:avLst>
          </a:prstGeom>
          <a:solidFill>
            <a:srgbClr val="1E2025"/>
          </a:solidFill>
          <a:ln w="9525">
            <a:solidFill>
              <a:srgbClr val="2E30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98727" y="1355527"/>
            <a:ext cx="524917" cy="431304"/>
          </a:xfrm>
          <a:prstGeom prst="roundRect">
            <a:avLst>
              <a:gd name="adj" fmla="val 11778"/>
            </a:avLst>
          </a:prstGeom>
          <a:solidFill>
            <a:srgbClr val="FF5722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098727" y="1355527"/>
            <a:ext cx="535415" cy="431304"/>
          </a:xfrm>
          <a:prstGeom prst="rect">
            <a:avLst/>
          </a:prstGeom>
          <a:noFill/>
          <a:ln/>
        </p:spPr>
        <p:txBody>
          <a:bodyPr wrap="square" lIns="76200" tIns="25400" rIns="76200" bIns="2540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25144" y="1371154"/>
            <a:ext cx="134954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(Chủ phòng)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98727" y="1863030"/>
            <a:ext cx="1988490" cy="76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high-level system settings, subscription packages, staff accounts, and views operational &amp; financial reports.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62551" y="1193602"/>
            <a:ext cx="2273498" cy="1644700"/>
          </a:xfrm>
          <a:prstGeom prst="roundRect">
            <a:avLst>
              <a:gd name="adj" fmla="val 4633"/>
            </a:avLst>
          </a:prstGeom>
          <a:solidFill>
            <a:srgbClr val="1E2025"/>
          </a:solidFill>
          <a:ln w="9525">
            <a:solidFill>
              <a:srgbClr val="2E30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524476" y="1355527"/>
            <a:ext cx="587425" cy="431304"/>
          </a:xfrm>
          <a:prstGeom prst="roundRect">
            <a:avLst>
              <a:gd name="adj" fmla="val 11778"/>
            </a:avLst>
          </a:prstGeom>
          <a:solidFill>
            <a:srgbClr val="FF5722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524476" y="1355527"/>
            <a:ext cx="599173" cy="431304"/>
          </a:xfrm>
          <a:prstGeom prst="rect">
            <a:avLst/>
          </a:prstGeom>
          <a:noFill/>
          <a:ln/>
        </p:spPr>
        <p:txBody>
          <a:bodyPr wrap="square" lIns="76200" tIns="25400" rIns="76200" bIns="2540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213402" y="1371154"/>
            <a:ext cx="12859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(Nhân viên)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24476" y="1863030"/>
            <a:ext cx="1988641" cy="76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daily member check-ins, package renewals, processing payments/invoices, equipment status, and feedback intake.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36802" y="2990701"/>
            <a:ext cx="2273350" cy="1644848"/>
          </a:xfrm>
          <a:prstGeom prst="roundRect">
            <a:avLst>
              <a:gd name="adj" fmla="val 4633"/>
            </a:avLst>
          </a:prstGeom>
          <a:solidFill>
            <a:srgbClr val="1E2025"/>
          </a:solidFill>
          <a:ln w="9525">
            <a:solidFill>
              <a:srgbClr val="2E30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098727" y="3152626"/>
            <a:ext cx="611088" cy="240953"/>
          </a:xfrm>
          <a:prstGeom prst="roundRect">
            <a:avLst>
              <a:gd name="adj" fmla="val 21083"/>
            </a:avLst>
          </a:prstGeom>
          <a:solidFill>
            <a:srgbClr val="FF5722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098727" y="3152626"/>
            <a:ext cx="623310" cy="240953"/>
          </a:xfrm>
          <a:prstGeom prst="rect">
            <a:avLst/>
          </a:prstGeom>
          <a:noFill/>
          <a:ln/>
        </p:spPr>
        <p:txBody>
          <a:bodyPr wrap="square" lIns="76200" tIns="25400" rIns="76200" bIns="2540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11316" y="3173016"/>
            <a:ext cx="9355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(PT)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098727" y="3469779"/>
            <a:ext cx="1988490" cy="76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assigned members, logs training progress, manages session schedules, and coordinates calendar bookings.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62551" y="2990701"/>
            <a:ext cx="2273498" cy="1644848"/>
          </a:xfrm>
          <a:prstGeom prst="roundRect">
            <a:avLst>
              <a:gd name="adj" fmla="val 4633"/>
            </a:avLst>
          </a:prstGeom>
          <a:solidFill>
            <a:srgbClr val="1E2025"/>
          </a:solidFill>
          <a:ln w="9525">
            <a:solidFill>
              <a:srgbClr val="2E30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524476" y="3152626"/>
            <a:ext cx="553045" cy="431304"/>
          </a:xfrm>
          <a:prstGeom prst="roundRect">
            <a:avLst>
              <a:gd name="adj" fmla="val 11778"/>
            </a:avLst>
          </a:prstGeom>
          <a:solidFill>
            <a:srgbClr val="FF5722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524476" y="3152626"/>
            <a:ext cx="564106" cy="431304"/>
          </a:xfrm>
          <a:prstGeom prst="rect">
            <a:avLst/>
          </a:prstGeom>
          <a:noFill/>
          <a:ln/>
        </p:spPr>
        <p:txBody>
          <a:bodyPr wrap="square" lIns="76200" tIns="25400" rIns="76200" bIns="2540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79022" y="3168253"/>
            <a:ext cx="13210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(Hội viên)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24476" y="3660130"/>
            <a:ext cx="1988641" cy="76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Registers/renews gym packages, checks in via ID/fingerprint, logs workouts, and submits feedback on gym facilities.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3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FUNCTIONAL MODULES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7950" y="901601"/>
            <a:ext cx="8128099" cy="38100"/>
          </a:xfrm>
          <a:prstGeom prst="roundRect">
            <a:avLst>
              <a:gd name="adj" fmla="val 50000"/>
            </a:avLst>
          </a:prstGeom>
          <a:solidFill>
            <a:srgbClr val="FF57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07950" y="1485602"/>
            <a:ext cx="2582317" cy="0"/>
          </a:xfrm>
          <a:prstGeom prst="line">
            <a:avLst/>
          </a:prstGeom>
          <a:noFill/>
          <a:ln w="19050">
            <a:solidFill>
              <a:srgbClr val="FF57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7950" y="1193602"/>
            <a:ext cx="263396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572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ADMINISTRATION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950" y="1685627"/>
            <a:ext cx="2582317" cy="796082"/>
          </a:xfrm>
          <a:prstGeom prst="roundRect">
            <a:avLst>
              <a:gd name="adj" fmla="val 9572"/>
            </a:avLst>
          </a:prstGeom>
          <a:solidFill>
            <a:srgbClr val="1E2025"/>
          </a:solidFill>
          <a:ln w="9525">
            <a:solidFill>
              <a:srgbClr val="2E30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4426" y="1822103"/>
            <a:ext cx="23555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Facility Management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4426" y="2025253"/>
            <a:ext cx="235555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Rooms, room types, real-time availability, and capacity limits.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7950" y="2634109"/>
            <a:ext cx="2582317" cy="796082"/>
          </a:xfrm>
          <a:prstGeom prst="roundRect">
            <a:avLst>
              <a:gd name="adj" fmla="val 9572"/>
            </a:avLst>
          </a:prstGeom>
          <a:solidFill>
            <a:srgbClr val="1E2025"/>
          </a:solidFill>
          <a:ln w="9525">
            <a:solidFill>
              <a:srgbClr val="2E30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4426" y="2770584"/>
            <a:ext cx="23555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&amp; Maintenance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4426" y="2973735"/>
            <a:ext cx="235555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catalog, status tracking, maintenance logs, and alerts.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7950" y="3582591"/>
            <a:ext cx="2582317" cy="796082"/>
          </a:xfrm>
          <a:prstGeom prst="roundRect">
            <a:avLst>
              <a:gd name="adj" fmla="val 9572"/>
            </a:avLst>
          </a:prstGeom>
          <a:solidFill>
            <a:srgbClr val="1E2025"/>
          </a:solidFill>
          <a:ln w="9525">
            <a:solidFill>
              <a:srgbClr val="2E30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4426" y="3719066"/>
            <a:ext cx="23555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Management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4426" y="3922216"/>
            <a:ext cx="235555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Accounts, role assignments, work schedules, and metrics.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80767" y="1485602"/>
            <a:ext cx="2582466" cy="0"/>
          </a:xfrm>
          <a:prstGeom prst="line">
            <a:avLst/>
          </a:prstGeom>
          <a:noFill/>
          <a:ln w="19050">
            <a:solidFill>
              <a:srgbClr val="FF57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80767" y="1193602"/>
            <a:ext cx="263411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572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MEMBERSHIPS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80767" y="1685627"/>
            <a:ext cx="2582466" cy="796082"/>
          </a:xfrm>
          <a:prstGeom prst="roundRect">
            <a:avLst>
              <a:gd name="adj" fmla="val 9572"/>
            </a:avLst>
          </a:prstGeom>
          <a:solidFill>
            <a:srgbClr val="1E2025"/>
          </a:solidFill>
          <a:ln w="9525">
            <a:solidFill>
              <a:srgbClr val="2E30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17243" y="1822103"/>
            <a:ext cx="23557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Management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17243" y="2025253"/>
            <a:ext cx="235570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Registration, profile updates, search, and data privacy masking.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80767" y="2634109"/>
            <a:ext cx="2582466" cy="796082"/>
          </a:xfrm>
          <a:prstGeom prst="roundRect">
            <a:avLst>
              <a:gd name="adj" fmla="val 9572"/>
            </a:avLst>
          </a:prstGeom>
          <a:solidFill>
            <a:srgbClr val="1E2025"/>
          </a:solidFill>
          <a:ln w="9525">
            <a:solidFill>
              <a:srgbClr val="2E30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17243" y="2770584"/>
            <a:ext cx="23557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&amp; Billing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17243" y="2973735"/>
            <a:ext cx="235570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Subscriptions, soft deletes, invoice creation, and payment records.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80767" y="3582591"/>
            <a:ext cx="2582466" cy="796082"/>
          </a:xfrm>
          <a:prstGeom prst="roundRect">
            <a:avLst>
              <a:gd name="adj" fmla="val 9572"/>
            </a:avLst>
          </a:prstGeom>
          <a:solidFill>
            <a:srgbClr val="1E2025"/>
          </a:solidFill>
          <a:ln w="9525">
            <a:solidFill>
              <a:srgbClr val="2E30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417243" y="3719066"/>
            <a:ext cx="23557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 Validation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17243" y="3922216"/>
            <a:ext cx="235570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ID/fingerprint checks, package verification, and session decrement.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53733" y="1485602"/>
            <a:ext cx="2582317" cy="0"/>
          </a:xfrm>
          <a:prstGeom prst="line">
            <a:avLst/>
          </a:prstGeom>
          <a:noFill/>
          <a:ln w="19050">
            <a:solidFill>
              <a:srgbClr val="FF57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53733" y="1193602"/>
            <a:ext cx="263396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572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WORKFLOWS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053733" y="1685627"/>
            <a:ext cx="2582317" cy="796082"/>
          </a:xfrm>
          <a:prstGeom prst="roundRect">
            <a:avLst>
              <a:gd name="adj" fmla="val 9572"/>
            </a:avLst>
          </a:prstGeom>
          <a:solidFill>
            <a:srgbClr val="1E2025"/>
          </a:solidFill>
          <a:ln w="9525">
            <a:solidFill>
              <a:srgbClr val="2E30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190208" y="1822103"/>
            <a:ext cx="23555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Coordination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90208" y="2025253"/>
            <a:ext cx="235555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assignments, workout logs, progress, and conflict check.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53733" y="2634109"/>
            <a:ext cx="2582317" cy="796082"/>
          </a:xfrm>
          <a:prstGeom prst="roundRect">
            <a:avLst>
              <a:gd name="adj" fmla="val 9572"/>
            </a:avLst>
          </a:prstGeom>
          <a:solidFill>
            <a:srgbClr val="1E2025"/>
          </a:solidFill>
          <a:ln w="9525">
            <a:solidFill>
              <a:srgbClr val="2E30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190208" y="2770584"/>
            <a:ext cx="23555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Lifecycle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90208" y="2973735"/>
            <a:ext cx="235555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intake routing, status (Mới -&gt; Đang xử lý -&gt; Đã hoàn tất), notifications.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53733" y="3582591"/>
            <a:ext cx="2582317" cy="796082"/>
          </a:xfrm>
          <a:prstGeom prst="roundRect">
            <a:avLst>
              <a:gd name="adj" fmla="val 9572"/>
            </a:avLst>
          </a:prstGeom>
          <a:solidFill>
            <a:srgbClr val="1E2025"/>
          </a:solidFill>
          <a:ln w="9525">
            <a:solidFill>
              <a:srgbClr val="2E30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190208" y="3719066"/>
            <a:ext cx="23555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Reports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90208" y="3922216"/>
            <a:ext cx="235555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dashboards, member traffic logs, and device health reports.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3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7950" y="901601"/>
            <a:ext cx="8128099" cy="38100"/>
          </a:xfrm>
          <a:prstGeom prst="roundRect">
            <a:avLst>
              <a:gd name="adj" fmla="val 50000"/>
            </a:avLst>
          </a:prstGeom>
          <a:solidFill>
            <a:srgbClr val="FF57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193602"/>
            <a:ext cx="3301901" cy="736402"/>
          </a:xfrm>
          <a:prstGeom prst="roundRect">
            <a:avLst>
              <a:gd name="adj" fmla="val 10348"/>
            </a:avLst>
          </a:prstGeom>
          <a:solidFill>
            <a:srgbClr val="1E2025"/>
          </a:solidFill>
          <a:ln w="9525">
            <a:solidFill>
              <a:srgbClr val="2E30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7975" y="1425327"/>
            <a:ext cx="669727" cy="272951"/>
          </a:xfrm>
          <a:prstGeom prst="roundRect">
            <a:avLst>
              <a:gd name="adj" fmla="val 18611"/>
            </a:avLst>
          </a:prstGeom>
          <a:solidFill>
            <a:srgbClr val="FF57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1791" y="1425327"/>
            <a:ext cx="622096" cy="272951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CLIENT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68202" y="1330077"/>
            <a:ext cx="208245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Vite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68202" y="1526828"/>
            <a:ext cx="20824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Page App, SPA routing, API Client utility.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7950" y="2056954"/>
            <a:ext cx="3301901" cy="736402"/>
          </a:xfrm>
          <a:prstGeom prst="roundRect">
            <a:avLst>
              <a:gd name="adj" fmla="val 10348"/>
            </a:avLst>
          </a:prstGeom>
          <a:solidFill>
            <a:srgbClr val="1E2025"/>
          </a:solidFill>
          <a:ln w="9525">
            <a:solidFill>
              <a:srgbClr val="2E30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07975" y="2288679"/>
            <a:ext cx="652909" cy="272951"/>
          </a:xfrm>
          <a:prstGeom prst="roundRect">
            <a:avLst>
              <a:gd name="adj" fmla="val 18611"/>
            </a:avLst>
          </a:prstGeom>
          <a:solidFill>
            <a:srgbClr val="FF57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01446" y="2288679"/>
            <a:ext cx="665967" cy="272951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SERVER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51384" y="2193429"/>
            <a:ext cx="20996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API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1384" y="2390180"/>
            <a:ext cx="20996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Node.js, RBAC authentication, validation, DTO transformation.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7950" y="2920305"/>
            <a:ext cx="3301901" cy="736402"/>
          </a:xfrm>
          <a:prstGeom prst="roundRect">
            <a:avLst>
              <a:gd name="adj" fmla="val 10348"/>
            </a:avLst>
          </a:prstGeom>
          <a:solidFill>
            <a:srgbClr val="1E2025"/>
          </a:solidFill>
          <a:ln w="9525">
            <a:solidFill>
              <a:srgbClr val="2E30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07975" y="3152031"/>
            <a:ext cx="802184" cy="272951"/>
          </a:xfrm>
          <a:prstGeom prst="roundRect">
            <a:avLst>
              <a:gd name="adj" fmla="val 18611"/>
            </a:avLst>
          </a:prstGeom>
          <a:solidFill>
            <a:srgbClr val="FF57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99954" y="3152031"/>
            <a:ext cx="818227" cy="272951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00659" y="3056781"/>
            <a:ext cx="194735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00659" y="3253532"/>
            <a:ext cx="19473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on Supabase, SSL security, transaction management.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063752" y="1193602"/>
            <a:ext cx="4572298" cy="596801"/>
          </a:xfrm>
          <a:prstGeom prst="rect">
            <a:avLst/>
          </a:prstGeom>
          <a:solidFill>
            <a:srgbClr val="1E20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082802" y="1193602"/>
            <a:ext cx="0" cy="596801"/>
          </a:xfrm>
          <a:prstGeom prst="line">
            <a:avLst/>
          </a:prstGeom>
          <a:noFill/>
          <a:ln w="38100">
            <a:solidFill>
              <a:srgbClr val="FF57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2352" y="1320552"/>
            <a:ext cx="3886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572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00302" y="1336477"/>
            <a:ext cx="37181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Request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302" y="1514177"/>
            <a:ext cx="37181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frontend invokes secure REST endpoints under the </a:t>
            </a:r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</a:t>
            </a:r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path.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063752" y="2514749"/>
            <a:ext cx="4572298" cy="698302"/>
          </a:xfrm>
          <a:prstGeom prst="rect">
            <a:avLst/>
          </a:prstGeom>
          <a:solidFill>
            <a:srgbClr val="1E20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082802" y="2514749"/>
            <a:ext cx="0" cy="698302"/>
          </a:xfrm>
          <a:prstGeom prst="line">
            <a:avLst/>
          </a:prstGeom>
          <a:noFill/>
          <a:ln w="38100">
            <a:solidFill>
              <a:srgbClr val="FF57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2352" y="2692450"/>
            <a:ext cx="3886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572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800302" y="2641699"/>
            <a:ext cx="37181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 &amp; Verification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302" y="2819400"/>
            <a:ext cx="37181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checks authorization tokens, verifies roles (RBAC), and sanitizes inputs.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063752" y="3937248"/>
            <a:ext cx="4572298" cy="698302"/>
          </a:xfrm>
          <a:prstGeom prst="rect">
            <a:avLst/>
          </a:prstGeom>
          <a:solidFill>
            <a:srgbClr val="1E20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082802" y="3937248"/>
            <a:ext cx="0" cy="698302"/>
          </a:xfrm>
          <a:prstGeom prst="line">
            <a:avLst/>
          </a:prstGeom>
          <a:noFill/>
          <a:ln w="38100">
            <a:solidFill>
              <a:srgbClr val="FF57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2352" y="4114949"/>
            <a:ext cx="3886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572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800302" y="4064198"/>
            <a:ext cx="37181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Pool Transaction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00302" y="4241899"/>
            <a:ext cx="37181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executes secure PostgreSQL queries via certificate-verified SSL pools.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3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APPLIED DESIGN PRINCIPLES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7950" y="901601"/>
            <a:ext cx="8128099" cy="38100"/>
          </a:xfrm>
          <a:prstGeom prst="roundRect">
            <a:avLst>
              <a:gd name="adj" fmla="val 50000"/>
            </a:avLst>
          </a:prstGeom>
          <a:solidFill>
            <a:srgbClr val="FF57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07950" y="1485602"/>
            <a:ext cx="3937099" cy="0"/>
          </a:xfrm>
          <a:prstGeom prst="line">
            <a:avLst/>
          </a:prstGeom>
          <a:noFill/>
          <a:ln w="19050">
            <a:solidFill>
              <a:srgbClr val="FF57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7950" y="1193602"/>
            <a:ext cx="401584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572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COUPLING REDUCTIONS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950" y="1622078"/>
            <a:ext cx="3937099" cy="815132"/>
          </a:xfrm>
          <a:prstGeom prst="roundRect">
            <a:avLst>
              <a:gd name="adj" fmla="val 9348"/>
            </a:avLst>
          </a:prstGeom>
          <a:solidFill>
            <a:srgbClr val="1E2025"/>
          </a:solidFill>
          <a:ln w="9525">
            <a:solidFill>
              <a:srgbClr val="2E30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9875" y="1758553"/>
            <a:ext cx="36855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Stamp Coupling </a:t>
            </a:r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69875" y="1980754"/>
            <a:ext cx="368551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Defined clean Data Transfer Objects (DTOs) for API payloads, transferring only necessary primitive data fields.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7950" y="2564160"/>
            <a:ext cx="3937099" cy="815132"/>
          </a:xfrm>
          <a:prstGeom prst="roundRect">
            <a:avLst>
              <a:gd name="adj" fmla="val 9348"/>
            </a:avLst>
          </a:prstGeom>
          <a:solidFill>
            <a:srgbClr val="1E2025"/>
          </a:solidFill>
          <a:ln w="9525">
            <a:solidFill>
              <a:srgbClr val="2E30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69875" y="2700635"/>
            <a:ext cx="36855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Coupling </a:t>
            </a:r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69875" y="2922836"/>
            <a:ext cx="368551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Enforced modular structure using ES Modules and TypeScript packaging, completely avoiding global state variables.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7950" y="3506242"/>
            <a:ext cx="3937099" cy="815132"/>
          </a:xfrm>
          <a:prstGeom prst="roundRect">
            <a:avLst>
              <a:gd name="adj" fmla="val 9348"/>
            </a:avLst>
          </a:prstGeom>
          <a:solidFill>
            <a:srgbClr val="1E2025"/>
          </a:solidFill>
          <a:ln w="9525">
            <a:solidFill>
              <a:srgbClr val="2E30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9875" y="3642717"/>
            <a:ext cx="36855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Coupling </a:t>
            </a:r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MITIGATED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69875" y="3864918"/>
            <a:ext cx="368551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Splitting role-based logic into dedicated middleware and dedicated endpoints rather than passing flags.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98950" y="1485602"/>
            <a:ext cx="3937099" cy="0"/>
          </a:xfrm>
          <a:prstGeom prst="line">
            <a:avLst/>
          </a:prstGeom>
          <a:noFill/>
          <a:ln w="19050">
            <a:solidFill>
              <a:srgbClr val="FF57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98950" y="1193602"/>
            <a:ext cx="401584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572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COHESION ENHANCEMENTS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98950" y="1622078"/>
            <a:ext cx="3937099" cy="815132"/>
          </a:xfrm>
          <a:prstGeom prst="roundRect">
            <a:avLst>
              <a:gd name="adj" fmla="val 9348"/>
            </a:avLst>
          </a:prstGeom>
          <a:solidFill>
            <a:srgbClr val="1E2025"/>
          </a:solidFill>
          <a:ln w="9525">
            <a:solidFill>
              <a:srgbClr val="2E30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60875" y="1758553"/>
            <a:ext cx="36855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Coincidental Cohesion </a:t>
            </a:r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60875" y="1980754"/>
            <a:ext cx="368551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Extracted helper utilities (encryption, validation) from routers into independent dedicated helper files.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98950" y="2564160"/>
            <a:ext cx="3937099" cy="815132"/>
          </a:xfrm>
          <a:prstGeom prst="roundRect">
            <a:avLst>
              <a:gd name="adj" fmla="val 9348"/>
            </a:avLst>
          </a:prstGeom>
          <a:solidFill>
            <a:srgbClr val="1E2025"/>
          </a:solidFill>
          <a:ln w="9525">
            <a:solidFill>
              <a:srgbClr val="2E30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60875" y="2700635"/>
            <a:ext cx="36855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Cohesion </a:t>
            </a:r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60875" y="2922836"/>
            <a:ext cx="368551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Refactoring generic api client utilities to divide operations by business domain rather than utility method.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98950" y="3506242"/>
            <a:ext cx="3937099" cy="815132"/>
          </a:xfrm>
          <a:prstGeom prst="roundRect">
            <a:avLst>
              <a:gd name="adj" fmla="val 9348"/>
            </a:avLst>
          </a:prstGeom>
          <a:solidFill>
            <a:srgbClr val="1E2025"/>
          </a:solidFill>
          <a:ln w="9525">
            <a:solidFill>
              <a:srgbClr val="2E30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60875" y="3642717"/>
            <a:ext cx="36855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Informational Cohesion </a:t>
            </a:r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60875" y="3864918"/>
            <a:ext cx="368551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focused React custom hooks (e.g., notification polling) operating on unified state contexts.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3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BUSINESS LOGIC &amp; SAFETY RULES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7950" y="901601"/>
            <a:ext cx="8128099" cy="744"/>
          </a:xfrm>
          <a:prstGeom prst="roundRect">
            <a:avLst>
              <a:gd name="adj" fmla="val 2560484"/>
            </a:avLst>
          </a:prstGeom>
          <a:solidFill>
            <a:srgbClr val="FF57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156246"/>
            <a:ext cx="3937099" cy="1876127"/>
          </a:xfrm>
          <a:prstGeom prst="roundRect">
            <a:avLst>
              <a:gd name="adj" fmla="val 4062"/>
            </a:avLst>
          </a:prstGeom>
          <a:solidFill>
            <a:srgbClr val="1E2025"/>
          </a:solidFill>
          <a:ln w="9525">
            <a:solidFill>
              <a:srgbClr val="2E30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7975" y="1318171"/>
            <a:ext cx="19601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572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REGISTRATION &amp; ACCOUNTS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31145" y="1348383"/>
            <a:ext cx="634454" cy="139601"/>
          </a:xfrm>
          <a:prstGeom prst="roundRect">
            <a:avLst>
              <a:gd name="adj" fmla="val 27292"/>
            </a:avLst>
          </a:prstGeom>
          <a:solidFill>
            <a:srgbClr val="FF5722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731145" y="1348383"/>
            <a:ext cx="647143" cy="139601"/>
          </a:xfrm>
          <a:prstGeom prst="rect">
            <a:avLst/>
          </a:prstGeom>
          <a:noFill/>
          <a:ln/>
        </p:spPr>
        <p:txBody>
          <a:bodyPr wrap="square" lIns="63500" tIns="12700" rIns="63500" bIns="1270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07975" y="1594396"/>
            <a:ext cx="3537049" cy="1212652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425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limit:</a:t>
            </a:r>
            <a:pPr algn="l" indent="0" marL="0">
              <a:lnSpc>
                <a:spcPts val="1425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Minimum age of </a:t>
            </a:r>
            <a:pPr algn="l" indent="0" marL="0">
              <a:lnSpc>
                <a:spcPts val="1425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pPr algn="l" indent="0" marL="0">
              <a:lnSpc>
                <a:spcPts val="1425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strictly enforced on the server-side.</a:t>
            </a:r>
            <a:endParaRPr lang="en-US" sz="950" dirty="0"/>
          </a:p>
          <a:p>
            <a:pPr algn="l" marL="95250" indent="-95250">
              <a:lnSpc>
                <a:spcPts val="1425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info:</a:t>
            </a:r>
            <a:pPr algn="l" indent="0" marL="0">
              <a:lnSpc>
                <a:spcPts val="1425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Phone number must be unique (10 digits, starts with 0).</a:t>
            </a:r>
            <a:endParaRPr lang="en-US" sz="950" dirty="0"/>
          </a:p>
          <a:p>
            <a:pPr algn="l" marL="95250" indent="-95250">
              <a:lnSpc>
                <a:spcPts val="1425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Verification:</a:t>
            </a:r>
            <a:pPr algn="l" indent="0" marL="0">
              <a:lnSpc>
                <a:spcPts val="1425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Test environment allows phone changes with clear warning banners.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7950" y="3184773"/>
            <a:ext cx="3937099" cy="1450777"/>
          </a:xfrm>
          <a:prstGeom prst="roundRect">
            <a:avLst>
              <a:gd name="adj" fmla="val 5252"/>
            </a:avLst>
          </a:prstGeom>
          <a:solidFill>
            <a:srgbClr val="1E2025"/>
          </a:solidFill>
          <a:ln w="9525">
            <a:solidFill>
              <a:srgbClr val="2E30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07975" y="3346698"/>
            <a:ext cx="16111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572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CHECK-IN GUARDRAILS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88989" y="3376910"/>
            <a:ext cx="550069" cy="139601"/>
          </a:xfrm>
          <a:prstGeom prst="roundRect">
            <a:avLst>
              <a:gd name="adj" fmla="val 27292"/>
            </a:avLst>
          </a:prstGeom>
          <a:solidFill>
            <a:srgbClr val="FF5722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388989" y="3376910"/>
            <a:ext cx="561070" cy="139601"/>
          </a:xfrm>
          <a:prstGeom prst="rect">
            <a:avLst/>
          </a:prstGeom>
          <a:noFill/>
          <a:ln/>
        </p:spPr>
        <p:txBody>
          <a:bodyPr wrap="square" lIns="63500" tIns="12700" rIns="63500" bIns="1270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07975" y="3622923"/>
            <a:ext cx="3537049" cy="787301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425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Validations:</a:t>
            </a:r>
            <a:pPr algn="l" indent="0" marL="0">
              <a:lnSpc>
                <a:spcPts val="1425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Instantly denies check-in if the package is expired or sessions are exhausted.</a:t>
            </a:r>
            <a:endParaRPr lang="en-US" sz="950" dirty="0"/>
          </a:p>
          <a:p>
            <a:pPr algn="l" marL="95250" indent="-95250">
              <a:lnSpc>
                <a:spcPts val="1425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Decrement:</a:t>
            </a:r>
            <a:pPr algn="l" indent="0" marL="0">
              <a:lnSpc>
                <a:spcPts val="1425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Automatically decrements remaining sessions upon entry check-in.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98950" y="1156246"/>
            <a:ext cx="3937099" cy="2301478"/>
          </a:xfrm>
          <a:prstGeom prst="roundRect">
            <a:avLst>
              <a:gd name="adj" fmla="val 3311"/>
            </a:avLst>
          </a:prstGeom>
          <a:solidFill>
            <a:srgbClr val="1E2025"/>
          </a:solidFill>
          <a:ln w="9525">
            <a:solidFill>
              <a:srgbClr val="2E30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98975" y="1318171"/>
            <a:ext cx="18951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572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OPERATIONAL SAFEGUARDS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446" y="1348383"/>
            <a:ext cx="790724" cy="139601"/>
          </a:xfrm>
          <a:prstGeom prst="roundRect">
            <a:avLst>
              <a:gd name="adj" fmla="val 27292"/>
            </a:avLst>
          </a:prstGeom>
          <a:solidFill>
            <a:srgbClr val="FF5722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858446" y="1348383"/>
            <a:ext cx="806538" cy="139601"/>
          </a:xfrm>
          <a:prstGeom prst="rect">
            <a:avLst/>
          </a:prstGeom>
          <a:noFill/>
          <a:ln/>
        </p:spPr>
        <p:txBody>
          <a:bodyPr wrap="square" lIns="63500" tIns="12700" rIns="63500" bIns="1270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98975" y="1594396"/>
            <a:ext cx="3537049" cy="1638002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425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Delete:</a:t>
            </a:r>
            <a:pPr algn="l" indent="0" marL="0">
              <a:lnSpc>
                <a:spcPts val="1425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Packages with active members can only be deactivated (hard delete is disabled).</a:t>
            </a:r>
            <a:endParaRPr lang="en-US" sz="950" dirty="0"/>
          </a:p>
          <a:p>
            <a:pPr algn="l" marL="95250" indent="-95250">
              <a:lnSpc>
                <a:spcPts val="1425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Warnings:</a:t>
            </a:r>
            <a:pPr algn="l" indent="0" marL="0">
              <a:lnSpc>
                <a:spcPts val="1425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Triggers a confirmation dialog when updating package prices with ≥ 50 active members.</a:t>
            </a:r>
            <a:endParaRPr lang="en-US" sz="950" dirty="0"/>
          </a:p>
          <a:p>
            <a:pPr algn="l" marL="95250" indent="-95250">
              <a:lnSpc>
                <a:spcPts val="1425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Conflicts:</a:t>
            </a:r>
            <a:pPr algn="l" indent="0" marL="0">
              <a:lnSpc>
                <a:spcPts val="1425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Algorithms prevent overlapping PT, member, and room calendar events.</a:t>
            </a:r>
            <a:endParaRPr lang="en-US" sz="950" dirty="0"/>
          </a:p>
          <a:p>
            <a:pPr algn="l" marL="95250" indent="-95250">
              <a:lnSpc>
                <a:spcPts val="1425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Lifecycle:</a:t>
            </a:r>
            <a:pPr algn="l" indent="0" marL="0">
              <a:lnSpc>
                <a:spcPts val="1425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Status automatically updates, triggering system notifications upon completion.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3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ROADMAP &amp; FUTURE 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7950" y="901601"/>
            <a:ext cx="8128099" cy="38100"/>
          </a:xfrm>
          <a:prstGeom prst="roundRect">
            <a:avLst>
              <a:gd name="adj" fmla="val 50000"/>
            </a:avLst>
          </a:prstGeom>
          <a:solidFill>
            <a:srgbClr val="FF57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07950" y="1485602"/>
            <a:ext cx="3937099" cy="0"/>
          </a:xfrm>
          <a:prstGeom prst="line">
            <a:avLst/>
          </a:prstGeom>
          <a:noFill/>
          <a:ln w="19050">
            <a:solidFill>
              <a:srgbClr val="FF57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7950" y="1193602"/>
            <a:ext cx="401584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572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ROADMAP ITEMS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950" y="1647527"/>
            <a:ext cx="3937099" cy="711101"/>
          </a:xfrm>
          <a:prstGeom prst="rect">
            <a:avLst/>
          </a:prstGeom>
          <a:solidFill>
            <a:srgbClr val="1E20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27000" y="1647527"/>
            <a:ext cx="0" cy="711101"/>
          </a:xfrm>
          <a:prstGeom prst="line">
            <a:avLst/>
          </a:prstGeom>
          <a:noFill/>
          <a:ln w="38100">
            <a:solidFill>
              <a:srgbClr val="FF57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6550" y="1774478"/>
            <a:ext cx="35883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Refactoring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6550" y="1964978"/>
            <a:ext cx="35883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 router-level queries to a structured Controller-Service-Repository pattern for modularity and testing.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7950" y="2511028"/>
            <a:ext cx="3937099" cy="711101"/>
          </a:xfrm>
          <a:prstGeom prst="rect">
            <a:avLst/>
          </a:prstGeom>
          <a:solidFill>
            <a:srgbClr val="1E20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27000" y="2511028"/>
            <a:ext cx="0" cy="711101"/>
          </a:xfrm>
          <a:prstGeom prst="line">
            <a:avLst/>
          </a:prstGeom>
          <a:noFill/>
          <a:ln w="38100">
            <a:solidFill>
              <a:srgbClr val="FF57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6550" y="2637979"/>
            <a:ext cx="35883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Integrations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6550" y="2828479"/>
            <a:ext cx="35883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physical check-in fingerprint scanners and integrate QR API payment gateway stubs.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7950" y="3374529"/>
            <a:ext cx="3937099" cy="711101"/>
          </a:xfrm>
          <a:prstGeom prst="rect">
            <a:avLst/>
          </a:prstGeom>
          <a:solidFill>
            <a:srgbClr val="1E20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27000" y="3374529"/>
            <a:ext cx="0" cy="711101"/>
          </a:xfrm>
          <a:prstGeom prst="line">
            <a:avLst/>
          </a:prstGeom>
          <a:noFill/>
          <a:ln w="38100">
            <a:solidFill>
              <a:srgbClr val="FF57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550" y="3501479"/>
            <a:ext cx="35883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Data Exporting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6550" y="3691979"/>
            <a:ext cx="35883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Excel and PDF report export tools for owner business audits.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98950" y="1485602"/>
            <a:ext cx="3937099" cy="0"/>
          </a:xfrm>
          <a:prstGeom prst="line">
            <a:avLst/>
          </a:prstGeom>
          <a:noFill/>
          <a:ln w="19050">
            <a:solidFill>
              <a:srgbClr val="FF57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98950" y="1193602"/>
            <a:ext cx="401584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572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UNRESOLVED QUESTIONS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98950" y="1647527"/>
            <a:ext cx="3937099" cy="2988022"/>
          </a:xfrm>
          <a:prstGeom prst="roundRect">
            <a:avLst>
              <a:gd name="adj" fmla="val 2550"/>
            </a:avLst>
          </a:prstGeom>
          <a:solidFill>
            <a:srgbClr val="1E2025"/>
          </a:solidFill>
          <a:ln w="9525">
            <a:solidFill>
              <a:srgbClr val="2E30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98975" y="1847552"/>
            <a:ext cx="3537049" cy="1674912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we proceed with a full refactoring of the backend code to the </a:t>
            </a:r>
            <a:pPr algn="l" indent="0" marL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Controller-Service-Repository</a:t>
            </a:r>
            <a:pPr algn="l" indent="0" marL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architecture during the current sprint?</a:t>
            </a:r>
            <a:endParaRPr lang="en-US" sz="1000" dirty="0"/>
          </a:p>
          <a:p>
            <a:pPr algn="l" marL="95250" indent="-9525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payment gateways or stubs are preferred for the VietQR API integration simulation?</a:t>
            </a:r>
            <a:endParaRPr lang="en-US" sz="1000" dirty="0"/>
          </a:p>
          <a:p>
            <a:pPr algn="l" marL="95250" indent="-9525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we need to extend audit logging duration limits past the default </a:t>
            </a:r>
            <a:pPr algn="l" indent="0" marL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days</a:t>
            </a:r>
            <a:pPr algn="l" indent="0" marL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Gym Management System Presentation</dc:title>
  <dc:subject>PptxGenJS Presentation</dc:subject>
  <dc:creator>Antigravity AI</dc:creator>
  <cp:lastModifiedBy>Antigravity AI</cp:lastModifiedBy>
  <cp:revision>1</cp:revision>
  <dcterms:created xsi:type="dcterms:W3CDTF">2026-06-11T15:36:14Z</dcterms:created>
  <dcterms:modified xsi:type="dcterms:W3CDTF">2026-06-11T15:36:14Z</dcterms:modified>
</cp:coreProperties>
</file>